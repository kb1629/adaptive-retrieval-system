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6400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572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114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8C8"/>
                </a:solidFill>
              </a:rPr>
              <a:t>Design and Implementation of an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11480" y="8686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Adaptive Retrieval System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11480" y="1600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B1"/>
                </a:solidFill>
              </a:rPr>
              <a:t>for Technical Documents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11480" y="22128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8FA8C8"/>
                </a:solidFill>
              </a:rPr>
              <a:t>Dynamic Dual-Path Routing  ·  ColPali Vision Model  ·  Hybrid RAG Pipeline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2578608"/>
            <a:ext cx="8321040" cy="13716"/>
          </a:xfrm>
          <a:prstGeom prst="rect">
            <a:avLst/>
          </a:prstGeom>
          <a:solidFill>
            <a:srgbClr val="1C2D55"/>
          </a:solidFill>
          <a:ln w="12700">
            <a:solidFill>
              <a:srgbClr val="1C2D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2724912"/>
            <a:ext cx="3931920" cy="2084832"/>
          </a:xfrm>
          <a:prstGeom prst="rect">
            <a:avLst/>
          </a:prstGeom>
          <a:solidFill>
            <a:srgbClr val="162347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2834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Submitted by</a:t>
            </a:r>
            <a:endParaRPr lang="en-US" sz="1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Kabeleswar P E</a:t>
            </a:r>
            <a:endParaRPr lang="en-US" sz="1000" dirty="0"/>
          </a:p>
          <a:p>
            <a:pPr indent="0" marL="0">
              <a:buNone/>
            </a:pPr>
            <a:r>
              <a:rPr lang="en-US" sz="1200" dirty="0">
                <a:solidFill>
                  <a:srgbClr val="00C9B1"/>
                </a:solidFill>
              </a:rPr>
              <a:t>CB.SC.I5DAS21032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DCE8F5"/>
                </a:solidFill>
              </a:rPr>
              <a:t>Integrated M.Sc. in Data Science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Department of Mathematics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Amrita School of Physical Sciences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Amrita Vishwa Vidyapeetham, Coimbatore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2724912"/>
            <a:ext cx="3931920" cy="2084832"/>
          </a:xfrm>
          <a:prstGeom prst="rect">
            <a:avLst/>
          </a:prstGeom>
          <a:solidFill>
            <a:srgbClr val="162347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0" y="2834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Project Advisor</a:t>
            </a:r>
            <a:endParaRPr lang="en-US" sz="1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Dr. P. Sriramakrishnan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DCE8F5"/>
                </a:solidFill>
              </a:rPr>
              <a:t>Assistant Professor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Department of Mathematics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Amrita School of Physical Sciences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Amrita Vishwa Vidyapeetham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9B1"/>
                </a:solidFill>
              </a:rPr>
              <a:t>April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5454"/>
          </a:solidFill>
          <a:ln w="12700">
            <a:solidFill>
              <a:srgbClr val="F054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1261872"/>
          </a:xfrm>
          <a:prstGeom prst="rect">
            <a:avLst/>
          </a:prstGeom>
          <a:solidFill>
            <a:srgbClr val="162347"/>
          </a:solidFill>
          <a:ln w="19050">
            <a:solidFill>
              <a:srgbClr val="F054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77240"/>
            <a:ext cx="91440" cy="1261872"/>
          </a:xfrm>
          <a:prstGeom prst="rect">
            <a:avLst/>
          </a:prstGeom>
          <a:solidFill>
            <a:srgbClr val="F05454"/>
          </a:solidFill>
          <a:ln w="12700">
            <a:solidFill>
              <a:srgbClr val="F05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454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133856"/>
            <a:ext cx="7909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5"/>
                </a:solidFill>
              </a:rPr>
              <a:t>Conventional RAG pipelines rely on OCR to extract text from PDFs. OCR silently destroys spatial structure — tables collapse, diagrams become garbled text, and wiring schematics lose all meaning. Applying a Vision Language Model (ColPali) uniformly to fix this incurs ~2.05 seconds per page on consumer hardware, creating a 11+ hour bottleneck for a 20,000-page enterprise corpus. Neither approach alone is viable in production.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176272"/>
            <a:ext cx="3931920" cy="2633472"/>
          </a:xfrm>
          <a:prstGeom prst="rect">
            <a:avLst/>
          </a:prstGeom>
          <a:solidFill>
            <a:srgbClr val="1C2D55"/>
          </a:solidFill>
          <a:ln w="12700">
            <a:solidFill>
              <a:srgbClr val="F054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249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454"/>
                </a:solidFill>
              </a:rPr>
              <a:t>Pain 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201168" cy="201168"/>
          </a:xfrm>
          <a:prstGeom prst="rect">
            <a:avLst/>
          </a:prstGeom>
          <a:solidFill>
            <a:srgbClr val="F05454"/>
          </a:solidFill>
          <a:ln w="12700">
            <a:solidFill>
              <a:srgbClr val="F05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243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8F5"/>
                </a:solidFill>
              </a:rPr>
              <a:t>OCR destroys diagram &amp; table structure before any retrieval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154680"/>
            <a:ext cx="201168" cy="201168"/>
          </a:xfrm>
          <a:prstGeom prst="rect">
            <a:avLst/>
          </a:prstGeom>
          <a:solidFill>
            <a:srgbClr val="F05454"/>
          </a:solidFill>
          <a:ln w="12700">
            <a:solidFill>
              <a:srgbClr val="F05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1272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8F5"/>
                </a:solidFill>
              </a:rPr>
              <a:t>Full ColPali on every page = 2.05s/page → impractical at scale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657600"/>
            <a:ext cx="201168" cy="201168"/>
          </a:xfrm>
          <a:prstGeom prst="rect">
            <a:avLst/>
          </a:prstGeom>
          <a:solidFill>
            <a:srgbClr val="F05454"/>
          </a:solidFill>
          <a:ln w="12700">
            <a:solidFill>
              <a:srgbClr val="F05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30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8F5"/>
                </a:solidFill>
              </a:rPr>
              <a:t>No existing system adapts per page based on visual complexity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160520"/>
            <a:ext cx="201168" cy="201168"/>
          </a:xfrm>
          <a:prstGeom prst="rect">
            <a:avLst/>
          </a:prstGeom>
          <a:solidFill>
            <a:srgbClr val="F05454"/>
          </a:solidFill>
          <a:ln w="12700">
            <a:solidFill>
              <a:srgbClr val="F05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330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8F5"/>
                </a:solidFill>
              </a:rPr>
              <a:t>Incompatible embedding spaces make hybrid search non-trivial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176272"/>
            <a:ext cx="3931920" cy="2633472"/>
          </a:xfrm>
          <a:prstGeom prst="rect">
            <a:avLst/>
          </a:prstGeom>
          <a:solidFill>
            <a:srgbClr val="1C2D55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2249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6048" y="2651760"/>
            <a:ext cx="201168" cy="20116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6243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8F5"/>
                </a:solidFill>
              </a:rPr>
              <a:t>Build a page-level router to classify visual complexity in &lt;100ms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56048" y="3154680"/>
            <a:ext cx="201168" cy="20116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1272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8F5"/>
                </a:solidFill>
              </a:rPr>
              <a:t>Reduce average indexing latency vs full ColPali baseline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56048" y="3657600"/>
            <a:ext cx="201168" cy="20116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630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8F5"/>
                </a:solidFill>
              </a:rPr>
              <a:t>Maintain retrieval quality (Recall@K, MRR) of a VLM pipeline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56048" y="4160520"/>
            <a:ext cx="201168" cy="20116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41330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8F5"/>
                </a:solidFill>
              </a:rPr>
              <a:t>Deploy end-to-end on Apple M1 Pro with self-healing OOM recovery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566928"/>
          </a:xfrm>
          <a:prstGeom prst="rect">
            <a:avLst/>
          </a:prstGeom>
          <a:solidFill>
            <a:srgbClr val="1C2D55"/>
          </a:solidFill>
          <a:ln w="1905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FD4"/>
                </a:solidFill>
              </a:rPr>
              <a:t>REAL-MM-RAG Benchmark</a:t>
            </a:r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</a:rPr>
              <a:t>  ·  TechReport Split  ·  IBM Research  ·  arXiv:2502.12342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920240" cy="1325880"/>
          </a:xfrm>
          <a:prstGeom prst="rect">
            <a:avLst/>
          </a:prstGeom>
          <a:solidFill>
            <a:srgbClr val="162347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B1"/>
                </a:solidFill>
              </a:rPr>
              <a:t>500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2075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50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Sampled from TechReport split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481328"/>
            <a:ext cx="1920240" cy="1325880"/>
          </a:xfrm>
          <a:prstGeom prst="rect">
            <a:avLst/>
          </a:prstGeom>
          <a:solidFill>
            <a:srgbClr val="162347"/>
          </a:solidFill>
          <a:ln w="1905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FD4"/>
                </a:solidFill>
              </a:rPr>
              <a:t>100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2075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Query Pairs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350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Natural language Q&amp;A pairs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481328"/>
            <a:ext cx="1920240" cy="1325880"/>
          </a:xfrm>
          <a:prstGeom prst="rect">
            <a:avLst/>
          </a:prstGeom>
          <a:solidFill>
            <a:srgbClr val="162347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842"/>
                </a:solidFill>
              </a:rPr>
              <a:t>1-to-1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17720" y="2075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 Task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2350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Each query → 1 ground-truth page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1481328"/>
            <a:ext cx="1920240" cy="1325880"/>
          </a:xfrm>
          <a:prstGeom prst="rect">
            <a:avLst/>
          </a:prstGeom>
          <a:solidFill>
            <a:srgbClr val="162347"/>
          </a:solidFill>
          <a:ln w="19050">
            <a:solidFill>
              <a:srgbClr val="4CAF7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AF7D"/>
                </a:solidFill>
              </a:rPr>
              <a:t>Mixed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20840" y="2075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Content Type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2350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Prose, tables, diagrams, schematics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29443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Page Content Breakdown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3310128"/>
            <a:ext cx="2834640" cy="347472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" y="331012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Page Type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310128"/>
            <a:ext cx="1188720" cy="347472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0984" y="33101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Approx. 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34840" y="3310128"/>
            <a:ext cx="1828800" cy="347472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9704" y="331012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Routed 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310128"/>
            <a:ext cx="2468880" cy="347472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331012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Why Challenging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3657600"/>
            <a:ext cx="2834640" cy="347472"/>
          </a:xfrm>
          <a:prstGeom prst="rect">
            <a:avLst/>
          </a:prstGeom>
          <a:solidFill>
            <a:srgbClr val="111E3A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" y="3657600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Technical Prose / Text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3657600"/>
            <a:ext cx="1188720" cy="347472"/>
          </a:xfrm>
          <a:prstGeom prst="rect">
            <a:avLst/>
          </a:prstGeom>
          <a:solidFill>
            <a:srgbClr val="111E3A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00984" y="365760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12.2%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34840" y="3657600"/>
            <a:ext cx="1828800" cy="347472"/>
          </a:xfrm>
          <a:prstGeom prst="rect">
            <a:avLst/>
          </a:prstGeom>
          <a:solidFill>
            <a:srgbClr val="111E3A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9704" y="36576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FD4"/>
                </a:solidFill>
              </a:rPr>
              <a:t>Text Path (DiT)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3657600"/>
            <a:ext cx="2468880" cy="347472"/>
          </a:xfrm>
          <a:prstGeom prst="rect">
            <a:avLst/>
          </a:prstGeom>
          <a:solidFill>
            <a:srgbClr val="111E3A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365760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Long paragraphs, dense terminology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4005072"/>
            <a:ext cx="2834640" cy="347472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" y="4005072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Data Tables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46120" y="4005072"/>
            <a:ext cx="1188720" cy="347472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00984" y="400507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~25%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434840" y="4005072"/>
            <a:ext cx="1828800" cy="347472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9704" y="400507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FD4"/>
                </a:solidFill>
              </a:rPr>
              <a:t>Vision Path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4005072"/>
            <a:ext cx="2468880" cy="347472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18504" y="40050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Spatial layout lost entirely in OCR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11480" y="4352544"/>
            <a:ext cx="2834640" cy="347472"/>
          </a:xfrm>
          <a:prstGeom prst="rect">
            <a:avLst/>
          </a:prstGeom>
          <a:solidFill>
            <a:srgbClr val="111E3A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" y="4352544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System Diagrams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46120" y="4352544"/>
            <a:ext cx="1188720" cy="347472"/>
          </a:xfrm>
          <a:prstGeom prst="rect">
            <a:avLst/>
          </a:prstGeom>
          <a:solidFill>
            <a:srgbClr val="111E3A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00984" y="4352544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~35%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434840" y="4352544"/>
            <a:ext cx="1828800" cy="347472"/>
          </a:xfrm>
          <a:prstGeom prst="rect">
            <a:avLst/>
          </a:prstGeom>
          <a:solidFill>
            <a:srgbClr val="111E3A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9704" y="435254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FD4"/>
                </a:solidFill>
              </a:rPr>
              <a:t>Vision Path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63640" y="4352544"/>
            <a:ext cx="2468880" cy="347472"/>
          </a:xfrm>
          <a:prstGeom prst="rect">
            <a:avLst/>
          </a:prstGeom>
          <a:solidFill>
            <a:srgbClr val="111E3A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18504" y="435254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Meaning encoded in shapes &amp; arrows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11480" y="4700016"/>
            <a:ext cx="2834640" cy="347472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" y="4700016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Mixed Layout (text+diagram)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46120" y="4700016"/>
            <a:ext cx="1188720" cy="347472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00984" y="470001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~28%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434840" y="4700016"/>
            <a:ext cx="1828800" cy="347472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9704" y="470001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FD4"/>
                </a:solidFill>
              </a:rPr>
              <a:t>Vision Path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63640" y="4700016"/>
            <a:ext cx="2468880" cy="347472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18504" y="470001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OCR captures words but loses structure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11480" y="50657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C8"/>
                </a:solidFill>
              </a:rPr>
              <a:t>Evaluation Metrics:  Recall@1, Recall@5, Recall@10, Mean Reciprocal Rank (MRR)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520440" y="777240"/>
            <a:ext cx="2103120" cy="43891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20440" y="7772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PDF Document Input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216152"/>
            <a:ext cx="0" cy="256032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1472184"/>
            <a:ext cx="2103120" cy="384048"/>
          </a:xfrm>
          <a:prstGeom prst="rect">
            <a:avLst/>
          </a:prstGeom>
          <a:solidFill>
            <a:srgbClr val="1C2D55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4721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Page Iterator  (per-page loop)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856232"/>
            <a:ext cx="0" cy="256032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2112264"/>
            <a:ext cx="2743200" cy="530352"/>
          </a:xfrm>
          <a:prstGeom prst="rect">
            <a:avLst/>
          </a:prstGeom>
          <a:solidFill>
            <a:srgbClr val="162347"/>
          </a:solidFill>
          <a:ln w="25400">
            <a:solidFill>
              <a:srgbClr val="00C9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1122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B1"/>
                </a:solidFill>
              </a:rPr>
              <a:t>Microsoft DiT Router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8C8"/>
                </a:solidFill>
              </a:rPr>
              <a:t>ViT-Base  ·  16-class Softmax  ·  &lt;100ms per page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FD4"/>
                </a:solidFill>
              </a:rPr>
              <a:t>Text-Heavy  (12.2%)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377440"/>
            <a:ext cx="-1188720" cy="0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2377440"/>
            <a:ext cx="0" cy="384048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194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Visually Complex  (87.8%)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377440"/>
            <a:ext cx="1143000" cy="0"/>
          </a:xfrm>
          <a:prstGeom prst="line">
            <a:avLst/>
          </a:prstGeom>
          <a:noFill/>
          <a:ln w="19050">
            <a:solidFill>
              <a:srgbClr val="F5C8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2377440"/>
            <a:ext cx="0" cy="384048"/>
          </a:xfrm>
          <a:prstGeom prst="line">
            <a:avLst/>
          </a:prstGeom>
          <a:noFill/>
          <a:ln w="19050">
            <a:solidFill>
              <a:srgbClr val="F5C8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761488"/>
            <a:ext cx="2560320" cy="384048"/>
          </a:xfrm>
          <a:prstGeom prst="rect">
            <a:avLst/>
          </a:prstGeom>
          <a:solidFill>
            <a:srgbClr val="162347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761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8F5"/>
                </a:solidFill>
              </a:rPr>
              <a:t>PaddleOCR v5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1455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8C8"/>
                </a:solidFill>
              </a:rPr>
              <a:t>Text extraction  ·  1–5s / page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91640" y="3346704"/>
            <a:ext cx="0" cy="219456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566160"/>
            <a:ext cx="2560320" cy="384048"/>
          </a:xfrm>
          <a:prstGeom prst="rect">
            <a:avLst/>
          </a:prstGeom>
          <a:solidFill>
            <a:srgbClr val="162347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66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8F5"/>
                </a:solidFill>
              </a:rPr>
              <a:t>Nomic Embed v1.5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950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8C8"/>
                </a:solidFill>
              </a:rPr>
              <a:t>768-dim dense vector  ·  8192 token ctx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91640" y="4151376"/>
            <a:ext cx="0" cy="219456"/>
          </a:xfrm>
          <a:prstGeom prst="line">
            <a:avLst/>
          </a:prstGeom>
          <a:noFill/>
          <a:ln w="19050">
            <a:solidFill>
              <a:srgbClr val="4A9F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370832"/>
            <a:ext cx="2560320" cy="347472"/>
          </a:xfrm>
          <a:prstGeom prst="rect">
            <a:avLst/>
          </a:prstGeom>
          <a:solidFill>
            <a:srgbClr val="0B1E3E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370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FD4"/>
                </a:solidFill>
              </a:rPr>
              <a:t>Text Vector Index  (LanceDB)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761488"/>
            <a:ext cx="2560320" cy="384048"/>
          </a:xfrm>
          <a:prstGeom prst="rect">
            <a:avLst/>
          </a:prstGeom>
          <a:solidFill>
            <a:srgbClr val="162347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7614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8F5"/>
                </a:solidFill>
              </a:rPr>
              <a:t>ColPali v1.2  (MPS GPU)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1455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8C8"/>
                </a:solidFill>
              </a:rPr>
              <a:t>SigLIP + PaliGemma  ·  1024 patches/page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52360" y="3346704"/>
            <a:ext cx="0" cy="219456"/>
          </a:xfrm>
          <a:prstGeom prst="line">
            <a:avLst/>
          </a:prstGeom>
          <a:noFill/>
          <a:ln w="19050">
            <a:solidFill>
              <a:srgbClr val="F5C8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3566160"/>
            <a:ext cx="2560320" cy="384048"/>
          </a:xfrm>
          <a:prstGeom prst="rect">
            <a:avLst/>
          </a:prstGeom>
          <a:solidFill>
            <a:srgbClr val="162347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566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8F5"/>
                </a:solidFill>
              </a:rPr>
              <a:t>Mean Pooling  →  128-dim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3950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8C8"/>
                </a:solidFill>
              </a:rPr>
              <a:t>Collapses 1024 patches to constant-size vector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452360" y="4151376"/>
            <a:ext cx="0" cy="219456"/>
          </a:xfrm>
          <a:prstGeom prst="line">
            <a:avLst/>
          </a:prstGeom>
          <a:noFill/>
          <a:ln w="19050">
            <a:solidFill>
              <a:srgbClr val="F5C8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4370832"/>
            <a:ext cx="2560320" cy="3474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4370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Vision Vector Index  (LanceDB)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91640" y="4718304"/>
            <a:ext cx="0" cy="164592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52360" y="4718304"/>
            <a:ext cx="0" cy="164592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91640" y="4882896"/>
            <a:ext cx="5760720" cy="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4882896"/>
            <a:ext cx="0" cy="146304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29000" y="5029200"/>
            <a:ext cx="2286000" cy="2743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5029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RRF Fusion  →  Final Ranked Output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Technology Stack &amp;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86384"/>
            <a:ext cx="1691640" cy="402336"/>
          </a:xfrm>
          <a:prstGeom prst="rect">
            <a:avLst/>
          </a:prstGeom>
          <a:solidFill>
            <a:srgbClr val="00C9B1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80467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Component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57400" y="786384"/>
            <a:ext cx="1874520" cy="402336"/>
          </a:xfrm>
          <a:prstGeom prst="rect">
            <a:avLst/>
          </a:prstGeom>
          <a:solidFill>
            <a:srgbClr val="00C9B1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21408" y="8046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786384"/>
            <a:ext cx="5166360" cy="402336"/>
          </a:xfrm>
          <a:prstGeom prst="rect">
            <a:avLst/>
          </a:prstGeom>
          <a:solidFill>
            <a:srgbClr val="00C9B1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95928" y="8046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Key Implementation Detail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169164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2070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Vision Router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1188720"/>
            <a:ext cx="187452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12070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Microsoft DiT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1188720"/>
            <a:ext cx="516636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5928" y="120700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8F5"/>
                </a:solidFill>
              </a:rPr>
              <a:t>ViT-Base; pre-trained on RVL-CDIP (400k docs); 16-class Softmax; lazy-loaded on first call; threshold τ = 0.05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65760" y="1591056"/>
            <a:ext cx="1691640" cy="402336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6093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Text OCR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57400" y="1591056"/>
            <a:ext cx="1874520" cy="402336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21408" y="16093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PaddleOCR v5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1591056"/>
            <a:ext cx="5166360" cy="402336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95928" y="160934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8F5"/>
                </a:solidFill>
              </a:rPr>
              <a:t>Disabled use_angle_cls, use_doc_preprocessor, use_doc_unwarping → 200s → ~3s/page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365760" y="1993392"/>
            <a:ext cx="169164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Text Embedding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57400" y="1993392"/>
            <a:ext cx="187452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Nomic Embed Text v1.5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1993392"/>
            <a:ext cx="516636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95928" y="2011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8F5"/>
                </a:solidFill>
              </a:rPr>
              <a:t>768-dim; 8192-token context window; handles dense multi-paragraph technical pages without truncation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65760" y="2395728"/>
            <a:ext cx="1691640" cy="402336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4140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Vision Encoding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57400" y="2395728"/>
            <a:ext cx="1874520" cy="402336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21408" y="24140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ColPali v1.2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31920" y="2395728"/>
            <a:ext cx="5166360" cy="402336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95928" y="241401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8F5"/>
                </a:solidFill>
              </a:rPr>
              <a:t>SigLIP visual encoder + PaliGemma LLM backbone; mean-pooling 1024 patches → 128-dim for constant-size indexing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365760" y="2798064"/>
            <a:ext cx="169164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28163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Query Fusion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57400" y="2798064"/>
            <a:ext cx="187452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1408" y="28163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Reciprocal Rank Fusion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31920" y="2798064"/>
            <a:ext cx="516636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95928" y="281635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8F5"/>
                </a:solidFill>
              </a:rPr>
              <a:t>RRF(d) = Σ 1/(k+rank); k=60; bypasses incompatible cosine score distributions from Nomic &amp; ColPali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365760" y="3200400"/>
            <a:ext cx="1691640" cy="402336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32186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Vector Storage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057400" y="3200400"/>
            <a:ext cx="1874520" cy="402336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21408" y="3218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LanceDB (serverless)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931920" y="3200400"/>
            <a:ext cx="5166360" cy="402336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95928" y="32186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8F5"/>
                </a:solidFill>
              </a:rPr>
              <a:t>Apache Arrow format; zero network latency; separate cosine indexes for 768-D text and 128-D vision vectors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365760" y="3602736"/>
            <a:ext cx="169164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" y="36210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</a:rPr>
              <a:t>Hardware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057400" y="3602736"/>
            <a:ext cx="187452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21408" y="36210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Apple M1 Pro (PyTorch MPS)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931920" y="3602736"/>
            <a:ext cx="5166360" cy="402336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95928" y="362102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CE8F5"/>
                </a:solidFill>
              </a:rPr>
              <a:t>Sequential ColPali (batch=1); batched Nomic (batch=4); custom OOM trap halves batch &amp; retries automatically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</a:rPr>
              <a:t>500-page REAL-MM-RAG TechReport  ·  100 queries  ·  Apple M1 Pro (16GB)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38528" cy="1353312"/>
          </a:xfrm>
          <a:prstGeom prst="rect">
            <a:avLst/>
          </a:prstGeom>
          <a:solidFill>
            <a:srgbClr val="162347"/>
          </a:solidFill>
          <a:ln w="25400">
            <a:solidFill>
              <a:srgbClr val="00C9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7899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B1"/>
                </a:solidFill>
              </a:rPr>
              <a:t>1.86s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Indexing Latency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vs 2.05s ColPali baseline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~10% reduction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38528" cy="1353312"/>
          </a:xfrm>
          <a:prstGeom prst="rect">
            <a:avLst/>
          </a:prstGeom>
          <a:solidFill>
            <a:srgbClr val="162347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7899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842"/>
                </a:solidFill>
              </a:rPr>
              <a:t>4.24×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627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Query Speedup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190195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483ms vs 2,050ms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(MaxSim baseline)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1938528" cy="1353312"/>
          </a:xfrm>
          <a:prstGeom prst="rect">
            <a:avLst/>
          </a:prstGeom>
          <a:solidFill>
            <a:srgbClr val="162347"/>
          </a:solidFill>
          <a:ln w="2540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07899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FD4"/>
                </a:solidFill>
              </a:rPr>
              <a:t>0.60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0" y="1627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Recall@10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190195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MRR = 0.21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Matches mean-pooled ColPali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005840"/>
            <a:ext cx="1938528" cy="1353312"/>
          </a:xfrm>
          <a:prstGeom prst="rect">
            <a:avLst/>
          </a:prstGeom>
          <a:solidFill>
            <a:srgbClr val="162347"/>
          </a:solidFill>
          <a:ln w="25400">
            <a:solidFill>
              <a:srgbClr val="4CAF7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07899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AF7D"/>
                </a:solidFill>
              </a:rPr>
              <a:t>12.2%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675120" y="162763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Pages → Text Path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75120" y="190195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61 / 500 pages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87.8% → Vision Path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450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Comparative Evaluation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761488"/>
            <a:ext cx="2880360" cy="338328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761488"/>
            <a:ext cx="2825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761488"/>
            <a:ext cx="713232" cy="338328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761488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R@1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59352" y="2761488"/>
            <a:ext cx="713232" cy="338328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2761488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R@5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72584" y="2761488"/>
            <a:ext cx="713232" cy="338328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2761488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R@10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85816" y="2761488"/>
            <a:ext cx="713232" cy="338328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1536" y="2761488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MRR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99048" y="2761488"/>
            <a:ext cx="1673352" cy="338328"/>
          </a:xfrm>
          <a:prstGeom prst="rect">
            <a:avLst/>
          </a:prstGeom>
          <a:solidFill>
            <a:srgbClr val="1C2D55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2761488"/>
            <a:ext cx="1618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Query Latency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099816"/>
            <a:ext cx="2880360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099816"/>
            <a:ext cx="2825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OCR + Nomic only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3099816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3099816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0.04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59352" y="3099816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05072" y="3099816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0.18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72584" y="3099816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099816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0.31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85816" y="3099816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31536" y="3099816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0.10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99048" y="3099816"/>
            <a:ext cx="167335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3099816"/>
            <a:ext cx="1618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95 ms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438144"/>
            <a:ext cx="2880360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438144"/>
            <a:ext cx="2825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Mean-pooled ColPali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46120" y="3438144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3438144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0.07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959352" y="3438144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05072" y="3438144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0.35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72584" y="3438144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18304" y="3438144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0.60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385816" y="3438144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31536" y="3438144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0.21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99048" y="3438144"/>
            <a:ext cx="167335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44768" y="3438144"/>
            <a:ext cx="1618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483 ms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3776472"/>
            <a:ext cx="2880360" cy="338328"/>
          </a:xfrm>
          <a:prstGeom prst="rect">
            <a:avLst/>
          </a:prstGeom>
          <a:solidFill>
            <a:srgbClr val="0A2218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3776472"/>
            <a:ext cx="2825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AF7D"/>
                </a:solidFill>
              </a:rPr>
              <a:t>Adaptive System (Ours) ✓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46120" y="3776472"/>
            <a:ext cx="713232" cy="338328"/>
          </a:xfrm>
          <a:prstGeom prst="rect">
            <a:avLst/>
          </a:prstGeom>
          <a:solidFill>
            <a:srgbClr val="0A2218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0" y="3776472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7D"/>
                </a:solidFill>
              </a:rPr>
              <a:t>0.07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959352" y="3776472"/>
            <a:ext cx="713232" cy="338328"/>
          </a:xfrm>
          <a:prstGeom prst="rect">
            <a:avLst/>
          </a:prstGeom>
          <a:solidFill>
            <a:srgbClr val="0A2218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05072" y="3776472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7D"/>
                </a:solidFill>
              </a:rPr>
              <a:t>0.35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72584" y="3776472"/>
            <a:ext cx="713232" cy="338328"/>
          </a:xfrm>
          <a:prstGeom prst="rect">
            <a:avLst/>
          </a:prstGeom>
          <a:solidFill>
            <a:srgbClr val="0A2218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18304" y="3776472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7D"/>
                </a:solidFill>
              </a:rPr>
              <a:t>0.60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385816" y="3776472"/>
            <a:ext cx="713232" cy="338328"/>
          </a:xfrm>
          <a:prstGeom prst="rect">
            <a:avLst/>
          </a:prstGeom>
          <a:solidFill>
            <a:srgbClr val="0A2218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3776472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7D"/>
                </a:solidFill>
              </a:rPr>
              <a:t>0.21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099048" y="3776472"/>
            <a:ext cx="1673352" cy="338328"/>
          </a:xfrm>
          <a:prstGeom prst="rect">
            <a:avLst/>
          </a:prstGeom>
          <a:solidFill>
            <a:srgbClr val="0A2218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44768" y="3776472"/>
            <a:ext cx="1618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7D"/>
                </a:solidFill>
              </a:rPr>
              <a:t>483 ms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65760" y="4114800"/>
            <a:ext cx="2880360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4114800"/>
            <a:ext cx="2825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ColPali MaxSim (external)*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246120" y="4114800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91840" y="4114800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0.09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959352" y="4114800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05072" y="4114800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0.41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672584" y="4114800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18304" y="4114800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0.81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385816" y="4114800"/>
            <a:ext cx="71323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31536" y="4114800"/>
            <a:ext cx="658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0.23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099048" y="4114800"/>
            <a:ext cx="1673352" cy="338328"/>
          </a:xfrm>
          <a:prstGeom prst="rect">
            <a:avLst/>
          </a:prstGeom>
          <a:solidFill>
            <a:srgbClr val="162347"/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44768" y="4114800"/>
            <a:ext cx="16184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2,050 ms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65760" y="44805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8"/>
                </a:solidFill>
              </a:rPr>
              <a:t>* ColPali MaxSim numbers from ViDoRe benchmark — not measured on our 500-page subset. Mean-pooling approximation accounts for the Recall@10 gap (0.60 vs 0.81).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65760" y="4809744"/>
            <a:ext cx="8321040" cy="347472"/>
          </a:xfrm>
          <a:prstGeom prst="rect">
            <a:avLst/>
          </a:prstGeom>
          <a:solidFill>
            <a:srgbClr val="1C2D55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30352" y="482803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7D"/>
                </a:solidFill>
              </a:rPr>
              <a:t>Key Finding:  </a:t>
            </a:r>
            <a:pPr indent="0" marL="0">
              <a:buNone/>
            </a:pPr>
            <a:r>
              <a:rPr lang="en-US" sz="1050" dirty="0">
                <a:solidFill>
                  <a:srgbClr val="DCE8F5"/>
                </a:solidFill>
              </a:rPr>
              <a:t>The 4.24× query speedup comes from replacing MaxSim with mean-pooled cosine retrieval. Routing 12.2% of pages to the lighter text path eliminates 12.2% of ColPali encoding calls at indexing time — a benefit that scales with corpus size.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 – Routing &amp; Failure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Router Distribution  (500 pages)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914400" cy="216712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44752"/>
            <a:ext cx="9144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12.2%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61 pages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Text Path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00200" y="1051560"/>
            <a:ext cx="914400" cy="25603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051560"/>
            <a:ext cx="914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87.8%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439 pages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Vision Path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2011680" cy="0"/>
          </a:xfrm>
          <a:prstGeom prst="line">
            <a:avLst/>
          </a:prstGeom>
          <a:noFill/>
          <a:ln w="12700">
            <a:solidFill>
              <a:srgbClr val="8FA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30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Text  vs  Vision Path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9776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8F5"/>
                </a:solidFill>
              </a:rPr>
              <a:t>IBM TechReport pages are predominantly visual — consistent with the dataset's nature. DiT correctly preserved 87.8% for ColPali and fast-tracked only pure-text pages (bibliographies, copyright notices, index blocks).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7132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Failure Analysis  (40 incorrect retrievals)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78992"/>
            <a:ext cx="3977640" cy="1170432"/>
          </a:xfrm>
          <a:prstGeom prst="rect">
            <a:avLst/>
          </a:prstGeom>
          <a:solidFill>
            <a:srgbClr val="162347"/>
          </a:solidFill>
          <a:ln w="19050">
            <a:solidFill>
              <a:srgbClr val="F054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78992"/>
            <a:ext cx="91440" cy="1170432"/>
          </a:xfrm>
          <a:prstGeom prst="rect">
            <a:avLst/>
          </a:prstGeom>
          <a:solidFill>
            <a:srgbClr val="F05454"/>
          </a:solidFill>
          <a:ln w="12700">
            <a:solidFill>
              <a:srgbClr val="F05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1338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5454"/>
                </a:solidFill>
              </a:rPr>
              <a:t>False-Positive Text Routing</a:t>
            </a:r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  (3 / 40)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56048" y="1444752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8F5"/>
                </a:solidFill>
              </a:rPr>
              <a:t>Page classified as text-heavy but contained a small embedded diagram relevant to the query. OCR discarded the visual element before embedding.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3977640" cy="1170432"/>
          </a:xfrm>
          <a:prstGeom prst="rect">
            <a:avLst/>
          </a:prstGeom>
          <a:solidFill>
            <a:srgbClr val="162347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77440"/>
            <a:ext cx="91440" cy="11704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43230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</a:rPr>
              <a:t>False-Negative Vision Routing</a:t>
            </a:r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  (2 / 40)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6048" y="2743200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8F5"/>
                </a:solidFill>
              </a:rPr>
              <a:t>Pages with corrupted OCR or handwritten annotations routed to ColPali. Patch-based representation handled layout well but failed on character-level serial number queries.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754880" y="3675888"/>
            <a:ext cx="3977640" cy="1170432"/>
          </a:xfrm>
          <a:prstGeom prst="rect">
            <a:avLst/>
          </a:prstGeom>
          <a:solidFill>
            <a:srgbClr val="162347"/>
          </a:solidFill>
          <a:ln w="1905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675888"/>
            <a:ext cx="91440" cy="117043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373075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</a:rPr>
              <a:t>Mean-Pooling Information Loss</a:t>
            </a:r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  (~35 / 40)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4041648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CE8F5"/>
                </a:solidFill>
              </a:rPr>
              <a:t>Majority of failures stem from collapsing 1024 patch embeddings into a single 128-dim vector — spatial patch structure exploited by MaxSim is discarded.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1417320"/>
          </a:xfrm>
          <a:prstGeom prst="rect">
            <a:avLst/>
          </a:prstGeom>
          <a:solidFill>
            <a:srgbClr val="162347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77240"/>
            <a:ext cx="91440" cy="14173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115568"/>
            <a:ext cx="7909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CE8F5"/>
                </a:solidFill>
              </a:rPr>
              <a:t>This project demonstrates that intelligent per-page routing decisively outperforms brute-force VLM pipelines on both speed and system resilience. Pairing Microsoft DiT as a page-level traffic cop with a hybrid ColPali + OCR dual-index architecture reduced average indexing latency from 2.05s to 1.86s (~10%) on the REAL-MM-RAG TechReport benchmark. At query time, replacing MaxSim late-interaction with mean-pooled cosine retrieval delivers a 4.24× speedup (2,050ms → 483ms) while maintaining Recall@10 = 0.60 and MRR = 0.21 — exactly matching a full mean-pooled ColPali baseline. A self-healing OOM recovery system ensures the pipeline never crashes on consumer hardware.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Enhancements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3977640" cy="1170432"/>
          </a:xfrm>
          <a:prstGeom prst="rect">
            <a:avLst/>
          </a:prstGeom>
          <a:solidFill>
            <a:srgbClr val="1C2D55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697480"/>
            <a:ext cx="91440" cy="1170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7706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</a:rPr>
              <a:t>Router Threshold Sweep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" y="30815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Formally ablate τ ∈ {0.02, 0.05, 0.10} on a held-out validation split to find the optimal text/visual routing boundary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697480"/>
            <a:ext cx="3977640" cy="1170432"/>
          </a:xfrm>
          <a:prstGeom prst="rect">
            <a:avLst/>
          </a:prstGeom>
          <a:solidFill>
            <a:srgbClr val="1C2D55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697480"/>
            <a:ext cx="91440" cy="117043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77063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FD4"/>
                </a:solidFill>
              </a:rPr>
              <a:t>Scale to 5,000+ Pages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308152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Routing efficiency grows with corpus size — 12.2% fewer ColPali calls expected to produce measurable indexing-time savings at scale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995928"/>
            <a:ext cx="3977640" cy="1170432"/>
          </a:xfrm>
          <a:prstGeom prst="rect">
            <a:avLst/>
          </a:prstGeom>
          <a:solidFill>
            <a:srgbClr val="1C2D55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995928"/>
            <a:ext cx="91440" cy="11704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4069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Learned Patch Compression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" y="437997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Replace mean-pooling with a trained compression layer or top-k patch selection to recover the Recall@10 gap (0.60 → 0.81)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995928"/>
            <a:ext cx="3977640" cy="1170432"/>
          </a:xfrm>
          <a:prstGeom prst="rect">
            <a:avLst/>
          </a:prstGeom>
          <a:solidFill>
            <a:srgbClr val="1C2D55"/>
          </a:solidFill>
          <a:ln w="12700">
            <a:solidFill>
              <a:srgbClr val="4CAF7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995928"/>
            <a:ext cx="91440" cy="11704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40690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7D"/>
                </a:solidFill>
              </a:rPr>
              <a:t>Cloud / Web Deployment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437997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5"/>
                </a:solidFill>
              </a:rPr>
              <a:t>Streamlit or React UI over the Python backend; Kubernetes to decouple CPU text-track from massively parallel cloud GPU vision-track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solidFill>
            <a:srgbClr val="162347"/>
          </a:solidFill>
          <a:ln w="508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[1]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822960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V. Faysse et al., ColPali: Efficient Document Retrieval with Vision Language Models, arXiv:2407.01449, 2024.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1335024"/>
            <a:ext cx="8321040" cy="457200"/>
          </a:xfrm>
          <a:prstGeom prst="rect">
            <a:avLst/>
          </a:prstGeom>
          <a:solidFill>
            <a:srgbClr val="1C2D55"/>
          </a:solidFill>
          <a:ln w="508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[2]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335024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J. Li, Y. Xu, T. Lv, L. Cui, C. Zhang, and F. Wei, DiT: Self-supervised Pre-training for Document Image Transformer, Proc. ACM Multimedia, 2022, pp. 3530-3539.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847088"/>
            <a:ext cx="8321040" cy="457200"/>
          </a:xfrm>
          <a:prstGeom prst="rect">
            <a:avLst/>
          </a:prstGeom>
          <a:solidFill>
            <a:srgbClr val="162347"/>
          </a:solidFill>
          <a:ln w="508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[3]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184708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Z. Nussbaum, J. X. Morris, B. Duderstadt, and A. Mulyar, Nomic Embed: Training a Reproducible Long Context Text Embedder, arXiv:2402.01613, 2024.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359152"/>
            <a:ext cx="8321040" cy="457200"/>
          </a:xfrm>
          <a:prstGeom prst="rect">
            <a:avLst/>
          </a:prstGeom>
          <a:solidFill>
            <a:srgbClr val="1C2D55"/>
          </a:solidFill>
          <a:ln w="508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[4]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359152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G. V. Cormack, C. L. A. Clarke, and S. Buettcher, Reciprocal Rank Fusion Outperforms Condorcet and Individual Rank Learning Methods, Proc. SIGIR, 2009, pp. 758-759.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871216"/>
            <a:ext cx="8321040" cy="457200"/>
          </a:xfrm>
          <a:prstGeom prst="rect">
            <a:avLst/>
          </a:prstGeom>
          <a:solidFill>
            <a:srgbClr val="162347"/>
          </a:solidFill>
          <a:ln w="508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[5]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871216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R. Chen et al., REAL-MM-RAG: A Real-World Multimodal Retrieval Benchmark, arXiv:2502.12342, 2025.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383280"/>
            <a:ext cx="8321040" cy="457200"/>
          </a:xfrm>
          <a:prstGeom prst="rect">
            <a:avLst/>
          </a:prstGeom>
          <a:solidFill>
            <a:srgbClr val="1C2D55"/>
          </a:solidFill>
          <a:ln w="508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[6]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J. Devlin, M.-W. Chang, K. Lee, and K. Toutanova, BERT: Pre-training of Deep Bidirectional Transformers for Language Understanding, Proc. NAACL-HLT, 2019, pp. 4171-4186.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895344"/>
            <a:ext cx="8321040" cy="457200"/>
          </a:xfrm>
          <a:prstGeom prst="rect">
            <a:avLst/>
          </a:prstGeom>
          <a:solidFill>
            <a:srgbClr val="162347"/>
          </a:solidFill>
          <a:ln w="508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[7]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895344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PaddlePaddle Authors, PaddleOCR: Awesome Multilingual OCR Toolkits, GitHub, 2020. [Online]. Available: https://github.com/PaddlePaddle/PaddleOCR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4407408"/>
            <a:ext cx="8321040" cy="457200"/>
          </a:xfrm>
          <a:prstGeom prst="rect">
            <a:avLst/>
          </a:prstGeom>
          <a:solidFill>
            <a:srgbClr val="1C2D55"/>
          </a:solidFill>
          <a:ln w="508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B1"/>
                </a:solidFill>
              </a:rPr>
              <a:t>[8]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40740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LanceDB Authors, LanceDB: Developer-friendly, Serverless Vector Database, GitHub, 2024. [Online]. Available: https://github.com/lancedb/lancedb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97433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B1"/>
                </a:solidFill>
              </a:rPr>
              <a:t>Code &amp; Reproducibility:  github.com/KB1629/adaptive-retrieval-system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8C8"/>
                </a:solidFill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Retrieval System – Final Review</dc:title>
  <dc:subject>PptxGenJS Presentation</dc:subject>
  <dc:creator>Kabeleswar P E</dc:creator>
  <cp:lastModifiedBy>Kabeleswar P E</cp:lastModifiedBy>
  <cp:revision>1</cp:revision>
  <dcterms:created xsi:type="dcterms:W3CDTF">2026-04-28T05:08:06Z</dcterms:created>
  <dcterms:modified xsi:type="dcterms:W3CDTF">2026-04-28T05:08:06Z</dcterms:modified>
</cp:coreProperties>
</file>